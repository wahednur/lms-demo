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23850"/>
          </a:solidFill>
          <a:ln w="19050">
            <a:solidFill>
              <a:srgbClr val="DC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DCEEF5"/>
                </a:solidFill>
                <a:latin typeface="Arial Narrow"/>
              </a:rPr>
              <a:t>SPI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303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DCEEF5"/>
                </a:solidFill>
                <a:latin typeface="Arial Narrow"/>
              </a:rPr>
              <a:t>Sherpur Polytechnic Institute</a:t>
            </a:r>
          </a:p>
        </p:txBody>
      </p:sp>
      <p:sp>
        <p:nvSpPr>
          <p:cNvPr id="4" name="Rounded Rectangle 3"/>
          <p:cNvSpPr/>
          <p:nvPr/>
        </p:nvSpPr>
        <p:spPr>
          <a:xfrm rot="21300000">
            <a:off x="9692640" y="457200"/>
            <a:ext cx="1920240" cy="502920"/>
          </a:xfrm>
          <a:prstGeom prst="roundRect">
            <a:avLst/>
          </a:prstGeom>
          <a:noFill/>
          <a:ln w="22225">
            <a:solidFill>
              <a:srgbClr val="E790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E79088"/>
                </a:solidFill>
                <a:latin typeface="Arial Narrow"/>
              </a:rPr>
              <a:t>DRAFT ·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3A857"/>
                </a:solidFill>
                <a:latin typeface="Arial Narrow"/>
              </a:rPr>
              <a:t>EDUCATION MANAGEMENT INFORMATION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DCEEF5"/>
                </a:solidFill>
                <a:latin typeface="Arial Narrow"/>
              </a:rPr>
              <a:t>EMIS — সম্পূর্ণ ডিজিটাল ম্যানেজমেন্ট প্ল্যাটফর্ম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8FB8CB"/>
                </a:solidFill>
                <a:latin typeface="Nirmala UI"/>
              </a:rPr>
              <a:t>Admin · Teacher · Student · Guardian · Alumni — ৫টি প্যানেল, একটি কোর সিস্টেম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394960"/>
            <a:ext cx="2743200" cy="19050"/>
          </a:xfrm>
          <a:prstGeom prst="rect">
            <a:avLst/>
          </a:prstGeom>
          <a:solidFill>
            <a:srgbClr val="2A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DCEEF5"/>
                </a:solidFill>
                <a:latin typeface="Nirmala UI"/>
              </a:rPr>
              <a:t>প্রস্তুতকারক — Abdul Wahed Nur (Wahed Nur)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B8CB"/>
                </a:solidFill>
                <a:latin typeface="Consolas"/>
              </a:rPr>
              <a:t>wahednur@gmail.com   ·   www.wahednur.tech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Scope, Risk &amp; Investment Briefing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ছোট ভূমিকা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আজকের আলোচনায় যা থাকছে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7135" y="320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FB8CB"/>
                </a:solidFill>
                <a:latin typeface="Consolas"/>
              </a:rPr>
              <a:t>INTRO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FB8CB"/>
                </a:solidFill>
                <a:latin typeface="Nirmala UI"/>
              </a:rPr>
              <a:t>এই প্রেজেন্টেশনটি তিন ভাগে সাজানো — প্রথমে সংক্ষিপ্ত পরিচিতি, তারপর প্রজেক্টের সামগ্রিক বিবরণ, সবশেষে প্রতিটি অংশের বিস্তারিত বিশ্লেষণ।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5431536" cy="13716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০১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প্রজেক্ট বিবরণ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আইসবার্গ মডেল, ঝুঁকি, ইন্ডাস্ট্রি স্ট্যান্ডার্ড বনাম সাধারণ কাজ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286000"/>
            <a:ext cx="5431536" cy="13716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০২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মডিউল ম্যাপ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একটি কোর সিস্টেম, পাঁচটি প্যানেল — সংক্ষিপ্ত ওভারভিউ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58768"/>
            <a:ext cx="5431536" cy="13716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০৩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বিস্তারিত ফিচার (A–Z)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Admin, Teacher, Student, Guardian, Alumni ও পাবলিক সাইট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858768"/>
            <a:ext cx="5431536" cy="13716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০৪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ব্যাকএন্ড, আর্কিটেকচার ও LTS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যা চোখে দেখা যায় না, কিন্তু সবচেয়ে বেশি সময় নেয়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431536"/>
            <a:ext cx="5431536" cy="13716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০৫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রোডম্যাপ ও খরচের লেজার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ধাপে ধাপে টাইমলাইন এবং প্রতি মডিউলের সময়-খরচ হিসাব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5431536"/>
            <a:ext cx="5431536" cy="13716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০৬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কেন আমি, ও পরবর্তী পদক্ষেপ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প্রমাণ, স্বচ্ছতা ও যোগাযোগ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EMIS — Sherpur Polytechnic 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048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2A5068"/>
                </a:solidFill>
                <a:latin typeface="Consolas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3317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3A857"/>
                </a:solidFill>
                <a:latin typeface="Arial Narrow"/>
              </a:rPr>
              <a:t>পর্ব 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697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DCEEF5"/>
                </a:solidFill>
                <a:latin typeface="Arial Narrow"/>
              </a:rPr>
              <a:t>প্রজেক্ট বিবরণ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3474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FB8CB"/>
                </a:solidFill>
                <a:latin typeface="Nirmala UI"/>
              </a:rPr>
              <a:t>কেন এই কাজটি একটি সাধারণ ওয়েবসাইট তৈরির কাজ নয় — সামগ্রিক চিত্র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EMIS — Sherpur Polytechnic 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কেন এটি ১–২ মাসের কাজ নয়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আপনি যা দেখবেন, তা সম্পূর্ণ প্রজেক্টের একটি ছোট অংশ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1800" b="0" i="0">
                <a:solidFill>
                  <a:srgbClr val="DCEEF5"/>
                </a:solidFill>
                <a:latin typeface="Nirmala UI"/>
              </a:rPr>
              <a:t>•  আজ যে স্ক্রিনগুলো (Admin/Student/Teacher UI) দেখানো হবে — এগুলো দেখতে সম্পূর্ণ সিস্টেমের মতো লাগবে।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1800" b="0" i="0">
                <a:solidFill>
                  <a:srgbClr val="DCEEF5"/>
                </a:solidFill>
                <a:latin typeface="Nirmala UI"/>
              </a:rPr>
              <a:t>•  কিন্তু এটি এখনো একটি mock/demo UI — এর পেছনে কোনো রিয়েল ডেটাবেস, লগইন সিকিউরিটি বা সার্ভার যুক্ত নেই।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1800" b="0" i="0">
                <a:solidFill>
                  <a:srgbClr val="DCEEF5"/>
                </a:solidFill>
                <a:latin typeface="Nirmala UI"/>
              </a:rPr>
              <a:t>•  একটি রেস্টুরেন্টের সাজানো ডাইনিং রুম দেখে বোঝা যায় না কিচেনে কত শেফ ও সরঞ্জাম লাগে — এই সিস্টেমও তেমন।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3A2D16"/>
          </a:solidFill>
          <a:ln w="12700">
            <a:solidFill>
              <a:srgbClr val="E3A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500" b="1" i="0">
                <a:solidFill>
                  <a:srgbClr val="E3A857"/>
                </a:solidFill>
                <a:latin typeface="Arial Narrow"/>
              </a:rPr>
              <a:t>সৎ উত্তর —  </a:t>
            </a:r>
            <a:r>
              <a:rPr sz="1500" b="0" i="0">
                <a:solidFill>
                  <a:srgbClr val="DCEEF5"/>
                </a:solidFill>
                <a:latin typeface="Nirmala UI"/>
              </a:rPr>
              <a:t>এটা প্রজেক্টের ভিজিবল অংশ মাত্র। পরের স্লাইডে দেখানো হয়েছে কেন, এবং বাকি অংশ কতটা বড়।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 বিবরণ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কেন্দ্রীয় বার্তা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আইসবার্গ মডেল — UI ১০–১৫%, ব্যাকএন্ড ৮৫–৯০%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80560" y="178308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163327"/>
          </a:solidFill>
          <a:ln w="12700">
            <a:solidFill>
              <a:srgbClr val="7FCB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7FCBA4"/>
                </a:solidFill>
                <a:latin typeface="Arial Narrow"/>
              </a:rPr>
              <a:t>দৃশ্যমান · UI / স্ক্রিন / ডিজাইন</a:t>
            </a:r>
          </a:p>
          <a:p>
            <a:pPr algn="ctr"/>
            <a:r>
              <a:rPr sz="1300" b="0" i="0">
                <a:solidFill>
                  <a:srgbClr val="7FCBA4"/>
                </a:solidFill>
                <a:latin typeface="Nirmala UI"/>
              </a:rPr>
              <a:t>মোট কাজের ≈ ১০–১৫%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880360"/>
            <a:ext cx="996696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E3A857"/>
                </a:solidFill>
                <a:latin typeface="Arial Narrow"/>
              </a:rPr>
              <a:t>জলরেখা — ক্লায়েন্ট যা দেখেন</a:t>
            </a:r>
          </a:p>
        </p:txBody>
      </p:sp>
      <p:sp>
        <p:nvSpPr>
          <p:cNvPr id="9" name="Isosceles Triangle 8"/>
          <p:cNvSpPr/>
          <p:nvPr/>
        </p:nvSpPr>
        <p:spPr>
          <a:xfrm rot="10800000">
            <a:off x="3566160" y="2971800"/>
            <a:ext cx="5029200" cy="2651760"/>
          </a:xfrm>
          <a:prstGeom prst="triangle">
            <a:avLst/>
          </a:prstGeom>
          <a:solidFill>
            <a:srgbClr val="16425C"/>
          </a:solidFill>
          <a:ln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715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8FB8CB"/>
                </a:solidFill>
                <a:latin typeface="Nirmala UI"/>
              </a:rPr>
              <a:t>•  ডেটাবেস ডিজাইন ও নরমালাইজেশন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8FB8CB"/>
                </a:solidFill>
                <a:latin typeface="Nirmala UI"/>
              </a:rPr>
              <a:t>•  রোল-বেসড সিকিউরিটি (RBAC)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8FB8CB"/>
                </a:solidFill>
                <a:latin typeface="Nirmala UI"/>
              </a:rPr>
              <a:t>•  Dokploy ডিপ্লয়মেন্ট (VPS, SSL)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5715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8FB8CB"/>
                </a:solidFill>
                <a:latin typeface="Nirmala UI"/>
              </a:rPr>
              <a:t>•  ব্যাকএন্ড API ও অথেনটিকেশন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8FB8CB"/>
                </a:solidFill>
                <a:latin typeface="Nirmala UI"/>
              </a:rPr>
              <a:t>•  Guardian / Alumni প্যানেল লজিক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8FB8CB"/>
                </a:solidFill>
                <a:latin typeface="Nirmala UI"/>
              </a:rPr>
              <a:t>•  টেস্টিং, QA ও বাগ ফিক্সিং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 বিবরণ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স্বচ্ছতা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বর্তমান রিয়েলিটি চেক — কী আছে, কী নেই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2377440"/>
                <a:gridCol w="3840480"/>
              </a:tblGrid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3A857"/>
                          </a:solidFill>
                          <a:latin typeface="Arial Narrow"/>
                        </a:rPr>
                        <a:t>বিষয়</a:t>
                      </a:r>
                    </a:p>
                  </a:txBody>
                  <a:tcPr anchor="ctr">
                    <a:solidFill>
                      <a:srgbClr val="3A2D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3A857"/>
                          </a:solidFill>
                          <a:latin typeface="Arial Narrow"/>
                        </a:rPr>
                        <a:t>অবস্থা</a:t>
                      </a:r>
                    </a:p>
                  </a:txBody>
                  <a:tcPr anchor="ctr">
                    <a:solidFill>
                      <a:srgbClr val="3A2D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3A857"/>
                          </a:solidFill>
                          <a:latin typeface="Arial Narrow"/>
                        </a:rPr>
                        <a:t>মন্তব্য</a:t>
                      </a:r>
                    </a:p>
                  </a:txBody>
                  <a:tcPr anchor="ctr">
                    <a:solidFill>
                      <a:srgbClr val="3A2D16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UI স্ক্রিন (Admin / Teacher / Student)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ডেমো আছে (mock ডেটায়)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ক্লায়েন্টের জন্য সম্পূর্ণ নতুন করে ডিজাইন ও তৈরি করতে হবে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রিয়েল ডেটাবেস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✗ নেই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ডিজাইন থেকে শুরু করতে হবে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লগইন সিকিউরিটি (Auth/RBAC)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✗ নেই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হ্যাশিং, সেশন, পারমিশন লাগবে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Guardian / Alumni প্যানেল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✗ নেই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সম্পূর্ণ নতুন তৈরি করতে হবে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প্রোডাকশন সার্ভার (VPS)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✗ নেই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Dokploy ডিপ্লয়মেন্ট লাগবে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Dockerization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ডেমো — নিজের সার্ভারে করা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ক্লায়েন্টের সার্ভারের জন্য সম্পূর্ণ নতুন করে করতে হবে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 বিবরণ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মান যাচাই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DCEEF5"/>
                </a:solidFill>
                <a:latin typeface="Arial Narrow"/>
              </a:rPr>
              <a:t>সাধারণ ডেভেলপার কাজ  বনাম  ইন্ডাস্ট্রি স্ট্যান্ডার্ড কাজ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114800"/>
                <a:gridCol w="457200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E3A857"/>
                          </a:solidFill>
                          <a:latin typeface="Arial Narrow"/>
                        </a:rPr>
                        <a:t>মানদণ্ড</a:t>
                      </a:r>
                    </a:p>
                  </a:txBody>
                  <a:tcPr anchor="ctr">
                    <a:solidFill>
                      <a:srgbClr val="3A2D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E3A857"/>
                          </a:solidFill>
                          <a:latin typeface="Arial Narrow"/>
                        </a:rPr>
                        <a:t>সাধারণ / শিক্ষানবিস কাজ</a:t>
                      </a:r>
                    </a:p>
                  </a:txBody>
                  <a:tcPr anchor="ctr">
                    <a:solidFill>
                      <a:srgbClr val="3A2D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E3A857"/>
                          </a:solidFill>
                          <a:latin typeface="Arial Narrow"/>
                        </a:rPr>
                        <a:t>ইন্ডাস্ট্রি স্ট্যান্ডার্ড কাজ</a:t>
                      </a:r>
                    </a:p>
                  </a:txBody>
                  <a:tcPr anchor="ctr">
                    <a:solidFill>
                      <a:srgbClr val="3A2D16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ডেটাবেস ডিজাইন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ফ্ল্যাট টেবিল, রিপিটেশন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3NF নরমালাইজড স্কিমা, ইন্ডেক্সিং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সিকিউরিটি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প্লেইন টেক্সট পাসওয়ার্ড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হ্যাশড পাসওয়ার্ড, RBAC, রেট-লিমিটিং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কোড আর্কিটেকচার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কপি-পেস্ট স্প্যাগেটি কোড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DRY, Reusable Component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টেস্টিং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“লাইভে টেস্ট হবে”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QA, ক্রস-ব্রাউজার, UAT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ডকুমেন্টেশন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কিছুই লেখা থাকে না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হ্যান্ডওভার ডকুমেন্ট, গাইড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ডিপ্লয়মেন্ট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ম্যানুয়াল FTP, ব্যাকআপ নেই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Docker + Dokploy, অটো ব্যাকআপ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অ্যাকাউন্টেবিলিটি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কোনো ট্র্যাক নেই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DCEEF5"/>
                          </a:solidFill>
                          <a:latin typeface="Nirmala UI"/>
                        </a:rPr>
                        <a:t>সম্পূর্ণ Audit Log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 বিবরণ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ঝুঁকি রেজিস্টার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অপেশাদার বা শর্টকাটে করালে যে ঝুঁকিগুলো থাকে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79088"/>
                          </a:solidFill>
                          <a:latin typeface="Arial Narrow"/>
                        </a:rPr>
                        <a:t>ঝুঁকি</a:t>
                      </a:r>
                    </a:p>
                  </a:txBody>
                  <a:tcPr anchor="ctr">
                    <a:solidFill>
                      <a:srgbClr val="3A1E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79088"/>
                          </a:solidFill>
                          <a:latin typeface="Arial Narrow"/>
                        </a:rPr>
                        <a:t>প্রভাব</a:t>
                      </a:r>
                    </a:p>
                  </a:txBody>
                  <a:tcPr anchor="ctr">
                    <a:solidFill>
                      <a:srgbClr val="3A1E1C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ডেটাবেস নরমালাইজেশন স্কিপ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ডেটা অসঙ্গতি, পরে পুরো সিস্টেম রিবিল্ড — খরচ ৩–৪ গুণ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সিকিউরিটি স্কিপ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ছাত্র/অভিভাবকের ব্যক্তিগত তথ্য লিক বা হ্যাকড হওয়ার ঝুঁকি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RBAC/পারমিশন না থাকা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যে কেউ অন্যের রেজাল্ট/তথ্য দেখতে বা বদলাতে পারবে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টেস্টিং স্কিপ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লাইভে বাগ, রেজাল্টে ভুল, অভিভাবকদের সামনে বিব্রতকর পরিস্থিতি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ব্যাকআপ না থাকা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সার্ভার ক্র্যাশে সব ডেটা স্থায়ীভাবে হারিয়ে যাওয়া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ডকুমেন্টেশন না থাকা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ডেভেলপার চলে গেলে সিস্টেম “ব্ল্যাক বক্স” হয়ে যায়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ফ্রিল্যান্সার মাঝপথে ছেড়ে যাওয়া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অসম্পূর্ণ সিস্টেম, নতুন টিম দিয়ে পুনরায় শুরু থেকে বোঝা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 বিবরণ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সিদ্ধান্তের মূল্য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“লামসামে / ছোট করে করবো” বললে আসলে কী হারাবেন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 i="0">
                <a:solidFill>
                  <a:srgbClr val="E3A857"/>
                </a:solidFill>
                <a:latin typeface="Nirmala UI"/>
              </a:rPr>
              <a:t>•  প্রতিটি কাটছাঁট একটি ভবিষ্যৎ সীমাবদ্ধতা:  </a:t>
            </a:r>
            <a:r>
              <a:rPr sz="1700" b="0" i="0">
                <a:solidFill>
                  <a:srgbClr val="DCEEF5"/>
                </a:solidFill>
                <a:latin typeface="Nirmala UI"/>
              </a:rPr>
              <a:t>পরে যুক্ত করতে গেলে পুরো মডিউল আবার নতুন করে ডিজাইন করতে হয়।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 i="0">
                <a:solidFill>
                  <a:srgbClr val="E3A857"/>
                </a:solidFill>
                <a:latin typeface="Nirmala UI"/>
              </a:rPr>
              <a:t>•  উদাহরণ — Audit Log বাদ দিলে:  </a:t>
            </a:r>
            <a:r>
              <a:rPr sz="1700" b="0" i="0">
                <a:solidFill>
                  <a:srgbClr val="DCEEF5"/>
                </a:solidFill>
                <a:latin typeface="Nirmala UI"/>
              </a:rPr>
              <a:t>ভবিষ্যতে কোনো বিরোধ/অভিযোগ হলে প্রমাণ করা যাবে না কে কী পরিবর্তন করেছে।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 i="0">
                <a:solidFill>
                  <a:srgbClr val="E3A857"/>
                </a:solidFill>
                <a:latin typeface="Nirmala UI"/>
              </a:rPr>
              <a:t>•  উদাহরণ — Guardian প্যানেল বাদ দিলে:  </a:t>
            </a:r>
            <a:r>
              <a:rPr sz="1700" b="0" i="0">
                <a:solidFill>
                  <a:srgbClr val="DCEEF5"/>
                </a:solidFill>
                <a:latin typeface="Nirmala UI"/>
              </a:rPr>
              <a:t>অভিভাবকরা সরাসরি রেজাল্ট/attendance দেখতে পারবেন না, অফিসে ফোন/ভিজিট বাড়বে।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 i="0">
                <a:solidFill>
                  <a:srgbClr val="E3A857"/>
                </a:solidFill>
                <a:latin typeface="Nirmala UI"/>
              </a:rPr>
              <a:t>•  “লামসাম মূল্য” মানে কাজ কমে যাওয়া নয়:  </a:t>
            </a:r>
            <a:r>
              <a:rPr sz="1700" b="0" i="0">
                <a:solidFill>
                  <a:srgbClr val="DCEEF5"/>
                </a:solidFill>
                <a:latin typeface="Nirmala UI"/>
              </a:rPr>
              <a:t>এটা মানে ঝুঁকি কোথাও চাপা দেওয়া, যা পরে অন্য জায়গায় সারফেস করে।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 বিবরণ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ব্র্যান্ড ও আস্থা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প্রতিষ্ঠানের সুনাম ও ইমেজ — এটা শুধু সফটওয়্যার নয়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1700" b="0" i="0">
                <a:solidFill>
                  <a:srgbClr val="DCEEF5"/>
                </a:solidFill>
                <a:latin typeface="Nirmala UI"/>
              </a:rPr>
              <a:t>•  শেরপুর পলিটেকনিক ইনস্টিটিউট বাংলাদেশের অসংখ্য পলিটেকনিকের একটি — একটি ভালো EMIS অন্য প্রতিষ্ঠানের কাছে রেফারেন্স মডেল হয়ে উঠতে পারে।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1700" b="0" i="0">
                <a:solidFill>
                  <a:srgbClr val="DCEEF5"/>
                </a:solidFill>
                <a:latin typeface="Nirmala UI"/>
              </a:rPr>
              <a:t>•  কিন্তু সিস্টেম বাগ-ভরা হলে, রেজাল্টে ভুল হলে বা ডেটা লিক হলে — এটা সরাসরি BTEB, মন্ত্রণালয়, অভিভাবক ও মিডিয়ার সামনে প্রতিষ্ঠানের ভাবমূর্তি নষ্ট করে।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1700" b="0" i="0">
                <a:solidFill>
                  <a:srgbClr val="DCEEF5"/>
                </a:solidFill>
                <a:latin typeface="Nirmala UI"/>
              </a:rPr>
              <a:t>•  আজকের ডিজিটাল যুগে প্রতিষ্ঠানের সিস্টেমই প্রথম পরিচয় — দুর্বল সিস্টেম মানে “এই প্রতিষ্ঠান পিছিয়ে আছে” এমন বার্তা যায়।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1700" b="0" i="0">
                <a:solidFill>
                  <a:srgbClr val="DCEEF5"/>
                </a:solidFill>
                <a:latin typeface="Nirmala UI"/>
              </a:rPr>
              <a:t>•  একটি মজবুত, প্রফেশনাল সিস্টেম মানে — “এই প্রতিষ্ঠান আধুনিক, নিয়মানুবর্তী এবং বিশ্বাসযোগ্য”।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 বিবরণ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সামগ্রিক কাঠামো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একটি কোর, পাঁচটি প্যানেল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27448" y="182880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3A2D16"/>
          </a:solidFill>
          <a:ln w="12700">
            <a:solidFill>
              <a:srgbClr val="E3A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E3A857"/>
                </a:solidFill>
                <a:latin typeface="Arial Narrow"/>
              </a:rPr>
              <a:t>EMIS কোর</a:t>
            </a:r>
          </a:p>
          <a:p>
            <a:pPr algn="ctr"/>
            <a:r>
              <a:rPr sz="1300" b="0" i="0">
                <a:solidFill>
                  <a:srgbClr val="E3A857"/>
                </a:solidFill>
                <a:latin typeface="Nirmala UI"/>
              </a:rPr>
              <a:t>ডেটাবেস +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5467" y="2834640"/>
            <a:ext cx="25400" cy="502920"/>
          </a:xfrm>
          <a:prstGeom prst="rect">
            <a:avLst/>
          </a:prstGeom>
          <a:solidFill>
            <a:srgbClr val="2A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8047" y="333756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DCEEF5"/>
                </a:solidFill>
                <a:latin typeface="Arial Narrow"/>
              </a:rPr>
              <a:t>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4307" y="2834640"/>
            <a:ext cx="25400" cy="502920"/>
          </a:xfrm>
          <a:prstGeom prst="rect">
            <a:avLst/>
          </a:prstGeom>
          <a:solidFill>
            <a:srgbClr val="2A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86887" y="333756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DCEEF5"/>
                </a:solidFill>
                <a:latin typeface="Arial Narrow"/>
              </a:rPr>
              <a:t>Teacher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3147" y="2834640"/>
            <a:ext cx="25400" cy="502920"/>
          </a:xfrm>
          <a:prstGeom prst="rect">
            <a:avLst/>
          </a:prstGeom>
          <a:solidFill>
            <a:srgbClr val="2A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35727" y="333756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DCEEF5"/>
                </a:solidFill>
                <a:latin typeface="Arial Narrow"/>
              </a:rPr>
              <a:t>Student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31987" y="2834640"/>
            <a:ext cx="25400" cy="502920"/>
          </a:xfrm>
          <a:prstGeom prst="rect">
            <a:avLst/>
          </a:prstGeom>
          <a:solidFill>
            <a:srgbClr val="2A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84567" y="333756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DCEEF5"/>
                </a:solidFill>
                <a:latin typeface="Arial Narrow"/>
              </a:rPr>
              <a:t>Guardian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80827" y="2834640"/>
            <a:ext cx="25400" cy="502920"/>
          </a:xfrm>
          <a:prstGeom prst="rect">
            <a:avLst/>
          </a:prstGeom>
          <a:solidFill>
            <a:srgbClr val="2A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33407" y="333756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DCEEF5"/>
                </a:solidFill>
                <a:latin typeface="Arial Narrow"/>
              </a:rPr>
              <a:t>Alumni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FB8CB"/>
                </a:solidFill>
                <a:latin typeface="Nirmala UI"/>
              </a:rPr>
              <a:t>সবাই একই কোর ডেটাবেস ও API শেয়ার করে — তাই প্রতিটির জন্য আলাদা সিস্টেম বানাতে হচ্ছে না, যা খরচ ও ভবিষ্যৎ মেইনটেনেন্স দুটোই কমায়। পরের অংশে প্রতিটি প্যানেলের সম্পূর্ণ ফিচার তালিকা (A–Z) দেখানো হয়েছে।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 বিবরণ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048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2A5068"/>
                </a:solidFill>
                <a:latin typeface="Consolas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3317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3A857"/>
                </a:solidFill>
                <a:latin typeface="Arial Narrow"/>
              </a:rPr>
              <a:t>পর্ব 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697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DCEEF5"/>
                </a:solidFill>
                <a:latin typeface="Arial Narrow"/>
              </a:rPr>
              <a:t>প্রজেক্টের বিস্তারিত বিবরণ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3474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FB8CB"/>
                </a:solidFill>
                <a:latin typeface="Nirmala UI"/>
              </a:rPr>
              <a:t>প্রতিটি প্যানেল ও মডিউলের সম্পূর্ণ ফিচার তালিকা — A থেকে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EMIS — Sherpur Polytechnic 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মডিউল বিস্তারিত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Admin Panel — সম্পূর্ণ ফিচার তালিকা (১/২)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7135" y="320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FB8CB"/>
                </a:solidFill>
                <a:latin typeface="Consolas"/>
              </a:rPr>
              <a:t>SHEET 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১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Students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তালিকা, প্রোফাইল, নতুন ভর্তি, এডিট, সেমিস্টার প্রোমোশন, অ্যালামনাইতে স্থানান্তর, ফিল্টার-সার্চ।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3776" y="1600200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২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Staff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তালিকা, প্রোফাইল, নতুন যোগ, এডিট, প্রশিক্ষণ/ট্রেনিং রেকর্ড, পদবী, স্ট্যাটাস।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8912" y="1600200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৩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Academics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ডিপার্টমেন্ট/ট্রেড, সাবজেক্ট যুক্ত করা, কোর্স অ্যাসাইনমেন্ট।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01568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৪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Attendance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উপস্থিতি এন্ট্রি ফর্ম, উপস্থিতির ট্রেন্ড চার্ট/অ্যানালিটিক্স।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3776" y="3401568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৫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Examinations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পরীক্ষা তৈরি, সিডিউল, ভেরিফিকেশন কিউ (ফল অনুমোদন ওয়ার্কফ্লো)।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2" y="3401568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৬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Results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সেমিস্টার রেজাল্ট ভিউ, গ্রেড হিসাব, প্রকাশ।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প্রজেক্টের বিস্তারিত বিবরণ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মডিউল বিস্তারিত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Admin Panel — সম্পূর্ণ ফিচার তালিকা (২/২)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7135" y="320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FB8CB"/>
                </a:solidFill>
                <a:latin typeface="Consolas"/>
              </a:rPr>
              <a:t>SHEET 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৭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Routine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ক্লাস রুটিন গ্রিড, স্লট যুক্ত করা, কনফ্লিক্ট ডিটেকশন।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3776" y="1600200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৮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Roles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প্রতিটি রোলের জন্য আলাদা পারমিশন — কে কী দেখতে/করতে পারবে।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8912" y="1600200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৯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Users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অ্যাকাউন্ট তৈরি, এডিট, লগইন ম্যানেজমেন্ট।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01568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১০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Audit Logs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কে কখন কী পরিবর্তন করলো তার সম্পূর্ণ ট্র্যাক।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3776" y="3401568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১১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Reports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এনরোলমেন্ট চার্ট, উপস্থিতি ট্রেন্ড, গ্রেড ডিস্ট্রিবিউশন, এক্সপোর্টেবল PDF/Excel।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2" y="3401568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১২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Settings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প্রতিষ্ঠানের তথ্য, একাডেমিক সেশন/বছর সেটআপ, নোটিফিকেশন সেটিংস।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89320"/>
            <a:ext cx="11064240" cy="457200"/>
          </a:xfrm>
          <a:prstGeom prst="roundRect">
            <a:avLst>
              <a:gd name="adj" fmla="val 5000"/>
            </a:avLst>
          </a:prstGeom>
          <a:solidFill>
            <a:srgbClr val="3A2D16"/>
          </a:solidFill>
          <a:ln w="12700">
            <a:solidFill>
              <a:srgbClr val="E3A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E3A857"/>
                </a:solidFill>
                <a:latin typeface="Nirmala UI"/>
              </a:rPr>
              <a:t>১২টা সাব-মডিউল — প্রতিটির আলাদা পারমিশন লজিক, ডেটা ভ্যালিডেশন ও টেস্টিং লাগবে।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প্রজেক্টের বিস্তারিত বিবরণ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মডিউল বিস্তারিত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Teacher Panel — সম্পূর্ণ ফিচার তালিকা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7135" y="320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FB8CB"/>
                </a:solidFill>
                <a:latin typeface="Consolas"/>
              </a:rPr>
              <a:t>SHEET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১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Attendance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নিজের ক্লাসের উপস্থিতি নেওয়া।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3776" y="1600200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২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Courses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নিজের অ্যাসাইনকৃত কোর্স/বিষয়ের তালিকা।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8912" y="1600200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৩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Marks Entry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নাম্বার এন্ট্রি ফর্ম + কড়া ভ্যালিডেশন — ভুল এন্ট্রি রেজাল্টে প্রভাব ফেলে।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01568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৪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Resources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স্টাডি মেটেরিয়াল আপলোড ও ম্যানেজমেন্ট।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3776" y="3401568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৫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Routine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নিজের ক্লাস শিডিউল দেখা।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2" y="3401568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৬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Profile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ব্যক্তিগত তথ্য ম্যানেজমেন্ট।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প্রজেক্টের বিস্তারিত বিবরণ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মডিউল বিস্তারিত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Student Panel — সম্পূর্ণ ফিচার তালিকা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7135" y="320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FB8CB"/>
                </a:solidFill>
                <a:latin typeface="Consolas"/>
              </a:rPr>
              <a:t>SHEET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১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Attendance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নিজের উপস্থিতির ইতিহাস।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3776" y="1600200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২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Notices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নোটিস বোর্ড।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8912" y="1600200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৩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Profile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ব্যক্তিগত ও গার্ডিয়ান তথ্য।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01568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৪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Resources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স্টাডি মেটেরিয়াল ডাউনলোড।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3776" y="3401568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৫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Results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সেমিস্টার-ভিত্তিক রেজাল্ট।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2" y="3401568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৬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Routine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নিজের ক্লাস শিডিউল।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প্রজেক্টের বিস্তারিত বিবরণ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মডিউল বিস্তারিত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Guardian Panel — সম্পূর্ণ নতুন মডিউল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7135" y="320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FB8CB"/>
                </a:solidFill>
                <a:latin typeface="Consolas"/>
              </a:rPr>
              <a:t>SHEET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575" y="15544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3A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100" b="1" i="0">
                <a:solidFill>
                  <a:srgbClr val="E79088"/>
                </a:solidFill>
                <a:latin typeface="Arial Narrow"/>
              </a:rPr>
              <a:t>সম্পূর্ণ নতুন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i="0">
                <a:solidFill>
                  <a:srgbClr val="E3A857"/>
                </a:solidFill>
                <a:latin typeface="Nirmala UI"/>
              </a:rPr>
              <a:t>•  Attendance:  </a:t>
            </a:r>
            <a:r>
              <a:rPr sz="1600" b="0" i="0">
                <a:solidFill>
                  <a:srgbClr val="DCEEF5"/>
                </a:solidFill>
                <a:latin typeface="Nirmala UI"/>
              </a:rPr>
              <a:t>সন্তানের উপস্থিতি দেখার ড্যাশবোর্ড।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i="0">
                <a:solidFill>
                  <a:srgbClr val="E3A857"/>
                </a:solidFill>
                <a:latin typeface="Nirmala UI"/>
              </a:rPr>
              <a:t>•  Result:  </a:t>
            </a:r>
            <a:r>
              <a:rPr sz="1600" b="0" i="0">
                <a:solidFill>
                  <a:srgbClr val="DCEEF5"/>
                </a:solidFill>
                <a:latin typeface="Nirmala UI"/>
              </a:rPr>
              <a:t>সন্তানের সেমিস্টার-ভিত্তিক রেজাল্ট দেখা।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i="0">
                <a:solidFill>
                  <a:srgbClr val="E3A857"/>
                </a:solidFill>
                <a:latin typeface="Nirmala UI"/>
              </a:rPr>
              <a:t>•  Fee / পেমেন্ট স্ট্যাটাস:  </a:t>
            </a:r>
            <a:r>
              <a:rPr sz="1600" b="0" i="0">
                <a:solidFill>
                  <a:srgbClr val="DCEEF5"/>
                </a:solidFill>
                <a:latin typeface="Nirmala UI"/>
              </a:rPr>
              <a:t>ভবিষ্যৎ ফেজে সংযুক্ত হবে।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i="0">
                <a:solidFill>
                  <a:srgbClr val="E3A857"/>
                </a:solidFill>
                <a:latin typeface="Nirmala UI"/>
              </a:rPr>
              <a:t>•  Notice:  </a:t>
            </a:r>
            <a:r>
              <a:rPr sz="1600" b="0" i="0">
                <a:solidFill>
                  <a:srgbClr val="DCEEF5"/>
                </a:solidFill>
                <a:latin typeface="Nirmala UI"/>
              </a:rPr>
              <a:t>প্রতিষ্ঠানের নোটিস সরাসরি দেখা।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i="0">
                <a:solidFill>
                  <a:srgbClr val="E3A857"/>
                </a:solidFill>
                <a:latin typeface="Nirmala UI"/>
              </a:rPr>
              <a:t>•  মাল্টি-চাইল্ড সাপোর্ট:  </a:t>
            </a:r>
            <a:r>
              <a:rPr sz="1600" b="0" i="0">
                <a:solidFill>
                  <a:srgbClr val="DCEEF5"/>
                </a:solidFill>
                <a:latin typeface="Nirmala UI"/>
              </a:rPr>
              <a:t>একাধিক সন্তান থাকলে সম্পর্ক ম্যাপিং।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i="0">
                <a:solidFill>
                  <a:srgbClr val="E3A857"/>
                </a:solidFill>
                <a:latin typeface="Nirmala UI"/>
              </a:rPr>
              <a:t>•  শিক্ষকের সাথে যোগাযোগ:  </a:t>
            </a:r>
            <a:r>
              <a:rPr sz="1600" b="0" i="0">
                <a:solidFill>
                  <a:srgbClr val="DCEEF5"/>
                </a:solidFill>
                <a:latin typeface="Nirmala UI"/>
              </a:rPr>
              <a:t>ভবিষ্যৎ ফেজে মেসেজিং সুবিধা।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প্রজেক্টের বিস্তারিত বিবরণ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মডিউল বিস্তারিত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Alumni Panel — সম্পূর্ণ নতুন মডিউল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7135" y="320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FB8CB"/>
                </a:solidFill>
                <a:latin typeface="Consolas"/>
              </a:rPr>
              <a:t>SHEET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575" y="15544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3A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100" b="1" i="0">
                <a:solidFill>
                  <a:srgbClr val="E79088"/>
                </a:solidFill>
                <a:latin typeface="Arial Narrow"/>
              </a:rPr>
              <a:t>সম্পূর্ণ নতুন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 i="0">
                <a:solidFill>
                  <a:srgbClr val="E3A857"/>
                </a:solidFill>
                <a:latin typeface="Nirmala UI"/>
              </a:rPr>
              <a:t>•  প্রোফাইল ও ডিরেক্টরি:  </a:t>
            </a:r>
            <a:r>
              <a:rPr sz="1700" b="0" i="0">
                <a:solidFill>
                  <a:srgbClr val="DCEEF5"/>
                </a:solidFill>
                <a:latin typeface="Nirmala UI"/>
              </a:rPr>
              <a:t>প্রাক্তন শিক্ষার্থীদের তথ্যভাণ্ডার।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 i="0">
                <a:solidFill>
                  <a:srgbClr val="E3A857"/>
                </a:solidFill>
                <a:latin typeface="Nirmala UI"/>
              </a:rPr>
              <a:t>•  ইভেন্ট / নেটওয়ার্কিং:  </a:t>
            </a:r>
            <a:r>
              <a:rPr sz="1700" b="0" i="0">
                <a:solidFill>
                  <a:srgbClr val="DCEEF5"/>
                </a:solidFill>
                <a:latin typeface="Nirmala UI"/>
              </a:rPr>
              <a:t>পুনর্মিলনী, চাকরির খবর শেয়ার।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 i="0">
                <a:solidFill>
                  <a:srgbClr val="E3A857"/>
                </a:solidFill>
                <a:latin typeface="Nirmala UI"/>
              </a:rPr>
              <a:t>•  সার্টিফিকেট ভেরিফিকেশন:  </a:t>
            </a:r>
            <a:r>
              <a:rPr sz="1700" b="0" i="0">
                <a:solidFill>
                  <a:srgbClr val="DCEEF5"/>
                </a:solidFill>
                <a:latin typeface="Nirmala UI"/>
              </a:rPr>
              <a:t>নিয়োগকর্তা অনলাইনে সার্টিফিকেট যাচাই করতে পারবেন।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 i="0">
                <a:solidFill>
                  <a:srgbClr val="E3A857"/>
                </a:solidFill>
                <a:latin typeface="Nirmala UI"/>
              </a:rPr>
              <a:t>•  কর্মস্থলের ডেটাবেস:  </a:t>
            </a:r>
            <a:r>
              <a:rPr sz="1700" b="0" i="0">
                <a:solidFill>
                  <a:srgbClr val="DCEEF5"/>
                </a:solidFill>
                <a:latin typeface="Nirmala UI"/>
              </a:rPr>
              <a:t>ভবিষ্যৎ রিপোর্টিং-এ ব্যবহারযোগ্য তথ্যভাণ্ডার।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প্রজেক্টের বিস্তারিত বিবরণ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মডিউল বিস্তারিত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পাবলিক ওয়েবসাইট — ফিচার তালিকা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7135" y="320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FB8CB"/>
                </a:solidFill>
                <a:latin typeface="Consolas"/>
              </a:rPr>
              <a:t>SHEET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১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Home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প্রতিষ্ঠানের পরিচিতি, হাইলাইটস।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3776" y="1600200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২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About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ইতিহাস, মিশন-ভিশন।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8912" y="1600200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৩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Departments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প্রতিটি ডিপার্টমেন্টের তালিকা + ডিটেইল পেজ।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01568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৪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Notices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পাবলিক নোটিস তালিকা + ডিটেইল পেজ।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3776" y="3401568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৫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Contact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যোগাযোগ তথ্য।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2" y="3401568"/>
            <a:ext cx="3553968" cy="160020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৬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দ্বিভাষিক সাপোর্ট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সম্পূর্ণ সাইট বাংলা ও English দুই ভাষায়।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প্রজেক্টের বিস্তারিত বিবরণ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হিডেন ৮৫–৯০%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ব্যাকএন্ড ও সিকিউরিটি — যা চোখে দেখা যায় না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400" b="1" i="0">
                <a:solidFill>
                  <a:srgbClr val="E3A857"/>
                </a:solidFill>
                <a:latin typeface="Arial Narrow"/>
              </a:rPr>
              <a:t>অথেনটিকেশন ও অ্যাক্সেস কন্ট্রোল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DCEEF5"/>
                </a:solidFill>
                <a:latin typeface="Nirmala UI"/>
              </a:rPr>
              <a:t>•  লগইন/সেশন, পাসওয়ার্ড হ্যাশিং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DCEEF5"/>
                </a:solidFill>
                <a:latin typeface="Nirmala UI"/>
              </a:rPr>
              <a:t>•  Role-Based Access Control (RBAC)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400" b="1" i="0">
                <a:solidFill>
                  <a:srgbClr val="E3A857"/>
                </a:solidFill>
                <a:latin typeface="Arial Narrow"/>
              </a:rPr>
              <a:t>ডেটাবেস ও API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DCEEF5"/>
                </a:solidFill>
                <a:latin typeface="Nirmala UI"/>
              </a:rPr>
              <a:t>•  3NF নরমালাইজড স্কিমা, ইন্ডেক্সিং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DCEEF5"/>
                </a:solidFill>
                <a:latin typeface="Nirmala UI"/>
              </a:rPr>
              <a:t>•  প্রতিটি মডিউলের CRUD API, ইনপুট ভ্যালিডেশন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DCEEF5"/>
                </a:solidFill>
                <a:latin typeface="Nirmala UI"/>
              </a:rPr>
              <a:t>•  ফাইল আপলোড, সার্চ/ফিল্টার/পেজিনেশন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40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400" b="1" i="0">
                <a:solidFill>
                  <a:srgbClr val="E3A857"/>
                </a:solidFill>
                <a:latin typeface="Arial Narrow"/>
              </a:rPr>
              <a:t>সিকিউরিটি হার্ডেনিং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DCEEF5"/>
                </a:solidFill>
                <a:latin typeface="Nirmala UI"/>
              </a:rPr>
              <a:t>•  Rate limiting, SQL Injection/XSS প্রতিরোধ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DCEEF5"/>
                </a:solidFill>
                <a:latin typeface="Nirmala UI"/>
              </a:rPr>
              <a:t>•  HTTPS/SSL এনক্রিপশন, Audit log হার্ডেনিং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77640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400" b="1" i="0">
                <a:solidFill>
                  <a:srgbClr val="E3A857"/>
                </a:solidFill>
                <a:latin typeface="Arial Narrow"/>
              </a:rPr>
              <a:t>অপারেশনাল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DCEEF5"/>
                </a:solidFill>
                <a:latin typeface="Nirmala UI"/>
              </a:rPr>
              <a:t>•  নোটিফিকেশন সিস্টেম, এরর হ্যান্ডলিং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DCEEF5"/>
                </a:solidFill>
                <a:latin typeface="Nirmala UI"/>
              </a:rPr>
              <a:t>•  ব্যাকআপ স্ট্র্যাটেজি, টেস্টিং (Unit/Integration/UAT)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DCEEF5"/>
                </a:solidFill>
                <a:latin typeface="Nirmala UI"/>
              </a:rPr>
              <a:t>•  Docker + Dokploy ডিপ্লয়মেন্ট পাইপলাইন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প্রজেক্টের বিস্তারিত বিবরণ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টেকনিক্যাল ব্লুপ্রিন্ট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সিস্টেম আর্কিটেকচার — স্তরভিত্তিক গঠন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1600200"/>
            <a:ext cx="8503920" cy="566928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 i="0">
                <a:solidFill>
                  <a:srgbClr val="DCEEF5"/>
                </a:solidFill>
                <a:latin typeface="Consolas"/>
              </a:rPr>
              <a:t>০১  ব্রাউজার / মোবাইল ক্লায়েন্ট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8FB8CB"/>
                </a:solidFill>
                <a:latin typeface="Nirmala UI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441448"/>
            <a:ext cx="8503920" cy="566928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 i="0">
                <a:solidFill>
                  <a:srgbClr val="DCEEF5"/>
                </a:solidFill>
                <a:latin typeface="Nirmala UI"/>
              </a:rPr>
              <a:t>০২  ফ্রন্টএন্ড — Next.js, React, Tailwind (৫টি প্যানেল UI)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99008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8FB8CB"/>
                </a:solidFill>
                <a:latin typeface="Nirmala U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282696"/>
            <a:ext cx="8503920" cy="566928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 i="0">
                <a:solidFill>
                  <a:srgbClr val="DCEEF5"/>
                </a:solidFill>
                <a:latin typeface="Nirmala UI"/>
              </a:rPr>
              <a:t>০৩  সিকিউরিটি স্তর — Auth · RBAC ·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83133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8FB8CB"/>
                </a:solidFill>
                <a:latin typeface="Nirmala UI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123944"/>
            <a:ext cx="8503920" cy="566928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 i="0">
                <a:solidFill>
                  <a:srgbClr val="DCEEF5"/>
                </a:solidFill>
                <a:latin typeface="Nirmala UI"/>
              </a:rPr>
              <a:t>০৪  ব্যাকএন্ড API — বিজনেস লজিক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6725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8FB8CB"/>
                </a:solidFill>
                <a:latin typeface="Nirmala U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965192"/>
            <a:ext cx="8503920" cy="566928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 i="0">
                <a:solidFill>
                  <a:srgbClr val="DCEEF5"/>
                </a:solidFill>
                <a:latin typeface="Nirmala UI"/>
              </a:rPr>
              <a:t>০৫  ডেটাবেস — নরমালাইজড স্কিমা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55138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8FB8CB"/>
                </a:solidFill>
                <a:latin typeface="Nirmala U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806440"/>
            <a:ext cx="8503920" cy="566928"/>
          </a:xfrm>
          <a:prstGeom prst="roundRect">
            <a:avLst>
              <a:gd name="adj" fmla="val 5000"/>
            </a:avLst>
          </a:prstGeom>
          <a:solidFill>
            <a:srgbClr val="3A2D16"/>
          </a:solidFill>
          <a:ln w="12700">
            <a:solidFill>
              <a:srgbClr val="E3A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 i="0">
                <a:solidFill>
                  <a:srgbClr val="E3A857"/>
                </a:solidFill>
                <a:latin typeface="Nirmala UI"/>
              </a:rPr>
              <a:t>০৬  Docker → Dokploy — SSL, রিভার্স প্রক্সি, VPS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প্রজেক্টের বিস্তারিত বিবরণ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ভবিষ্যৎ-নিরাপত্তা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LTS ও লং-টার্ম সাপোর্ট কেন গুরুত্বপূর্ণ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FB8CB"/>
                </a:solidFill>
                <a:latin typeface="Nirmala UI"/>
              </a:rPr>
              <a:t>LTS (Long-Term Support) মানে — এমন টেকনোলজি ভার্সন বেছে নেওয়া যা দীর্ঘদিন সিকিউরিটি প্যাচ ও আপডেট পাবে।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349240" cy="3657600"/>
          </a:xfrm>
          <a:prstGeom prst="roundRect">
            <a:avLst>
              <a:gd name="adj" fmla="val 5000"/>
            </a:avLst>
          </a:prstGeom>
          <a:solidFill>
            <a:srgbClr val="3A1E1C"/>
          </a:solidFill>
          <a:ln w="12700">
            <a:solidFill>
              <a:srgbClr val="E790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 b="1" i="0">
                <a:solidFill>
                  <a:srgbClr val="E79088"/>
                </a:solidFill>
                <a:latin typeface="Arial Narrow"/>
              </a:rPr>
              <a:t>পুরোনো/আনসাপোর্টেড টেকনোলজির ঝুঁকি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1400" b="0" i="0">
                <a:solidFill>
                  <a:srgbClr val="DCEEF5"/>
                </a:solidFill>
                <a:latin typeface="Nirmala UI"/>
              </a:rPr>
              <a:t>•  নতুন সিকিউরিটি দুর্বলতায় প্যাচ পাওয়া যায় না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1400" b="0" i="0">
                <a:solidFill>
                  <a:srgbClr val="DCEEF5"/>
                </a:solidFill>
                <a:latin typeface="Nirmala UI"/>
              </a:rPr>
              <a:t>•  কয়েক বছর পর নতুন ব্রাউজার/সার্ভারের সাথে কাজ বন্ধ হয়ে যায়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1400" b="0" i="0">
                <a:solidFill>
                  <a:srgbClr val="DCEEF5"/>
                </a:solidFill>
                <a:latin typeface="Nirmala UI"/>
              </a:rPr>
              <a:t>•  ভবিষ্যতে নতুন ডেভেলপার খুঁজে পাওয়া কঠিন হয়ে যায়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240280"/>
            <a:ext cx="5349240" cy="3657600"/>
          </a:xfrm>
          <a:prstGeom prst="roundRect">
            <a:avLst>
              <a:gd name="adj" fmla="val 5000"/>
            </a:avLst>
          </a:prstGeom>
          <a:solidFill>
            <a:srgbClr val="163327"/>
          </a:solidFill>
          <a:ln w="12700">
            <a:solidFill>
              <a:srgbClr val="7FCB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 b="1" i="0">
                <a:solidFill>
                  <a:srgbClr val="7FCBA4"/>
                </a:solidFill>
                <a:latin typeface="Arial Narrow"/>
              </a:rPr>
              <a:t>এই প্রজেক্টে যা নিশ্চিত করা হচ্ছে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1400" b="0" i="0">
                <a:solidFill>
                  <a:srgbClr val="DCEEF5"/>
                </a:solidFill>
                <a:latin typeface="Nirmala UI"/>
              </a:rPr>
              <a:t>•  স্টেবল, সক্রিয়ভাবে-সাপোর্টেড ফ্রেমওয়ার্ক ভার্সন ব্যবহার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1400" b="0" i="0">
                <a:solidFill>
                  <a:srgbClr val="DCEEF5"/>
                </a:solidFill>
                <a:latin typeface="Nirmala UI"/>
              </a:rPr>
              <a:t>•  Node.js-এর LTS ভার্সনে ডিপ্লয়মেন্ট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1400" b="0" i="0">
                <a:solidFill>
                  <a:srgbClr val="DCEEF5"/>
                </a:solidFill>
                <a:latin typeface="Nirmala UI"/>
              </a:rPr>
              <a:t>•  নিয়মিত সিকিউরিটি আপডেট প্রয়োগের সুযোগ রেখে মডুলার কোড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sz="1400" b="0" i="0">
                <a:solidFill>
                  <a:srgbClr val="DCEEF5"/>
                </a:solidFill>
                <a:latin typeface="Nirmala UI"/>
              </a:rPr>
              <a:t>•  ডকুমেন্টেশন — যাতে বছরের পর বছর অন্য ডেভেলপারও মেইনটেইন করতে পারে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প্রজেক্টের বিস্তারিত বিবরণ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রুট ম্যাপ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DCEEF5"/>
                </a:solidFill>
                <a:latin typeface="Arial Narrow"/>
              </a:rPr>
              <a:t>প্রজেক্ট রোডম্যাপ — শুরু থেকে লঞ্চ পর্যন্ত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CEEF5"/>
                </a:solidFill>
                <a:latin typeface="Nirmala UI"/>
              </a:rPr>
              <a:t>০.  প্রয়োজন বিশ্লেষণ ও চুক্তি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664208"/>
            <a:ext cx="4846320" cy="182880"/>
          </a:xfrm>
          <a:prstGeom prst="rect">
            <a:avLst/>
          </a:prstGeom>
          <a:solidFill>
            <a:srgbClr val="2A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77840" y="1664208"/>
            <a:ext cx="515565" cy="18288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1600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FB8CB"/>
                </a:solidFill>
                <a:latin typeface="Consolas"/>
              </a:rPr>
              <a:t>১ সপ্তাহ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796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CEEF5"/>
                </a:solidFill>
                <a:latin typeface="Nirmala UI"/>
              </a:rPr>
              <a:t>১.  UI/UX ডিজাইন সিস্টেম ও পাবলিক সাইট (নতুন)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2061972"/>
            <a:ext cx="4846320" cy="182880"/>
          </a:xfrm>
          <a:prstGeom prst="rect">
            <a:avLst/>
          </a:prstGeom>
          <a:solidFill>
            <a:srgbClr val="2A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2061972"/>
            <a:ext cx="1237358" cy="18288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0" y="199796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FB8CB"/>
                </a:solidFill>
                <a:latin typeface="Consolas"/>
              </a:rPr>
              <a:t>২ সপ্তাহ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957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CEEF5"/>
                </a:solidFill>
                <a:latin typeface="Nirmala UI"/>
              </a:rPr>
              <a:t>২.  ডেটাবেস ডিজাইন ও আর্কিটেকচার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2459736"/>
            <a:ext cx="4846320" cy="182880"/>
          </a:xfrm>
          <a:prstGeom prst="rect">
            <a:avLst/>
          </a:prstGeom>
          <a:solidFill>
            <a:srgbClr val="2A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0" y="2459736"/>
            <a:ext cx="928018" cy="18288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0" y="23957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FB8CB"/>
                </a:solidFill>
                <a:latin typeface="Consolas"/>
              </a:rPr>
              <a:t>২ সপ্তাহ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7934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CEEF5"/>
                </a:solidFill>
                <a:latin typeface="Nirmala UI"/>
              </a:rPr>
              <a:t>৩.  ব্যাকএন্ড API ও অথেনটিকেশন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2857500"/>
            <a:ext cx="4846320" cy="182880"/>
          </a:xfrm>
          <a:prstGeom prst="rect">
            <a:avLst/>
          </a:prstGeom>
          <a:solidFill>
            <a:srgbClr val="2A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77840" y="2857500"/>
            <a:ext cx="3093395" cy="18288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279349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FB8CB"/>
                </a:solidFill>
                <a:latin typeface="Consolas"/>
              </a:rPr>
              <a:t>৫–৬ সপ্তাহ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9125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CEEF5"/>
                </a:solidFill>
                <a:latin typeface="Nirmala UI"/>
              </a:rPr>
              <a:t>৪.  Admin/Teacher/Student প্যানেল — সম্পূর্ণ নতুন (UI+Backend)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3255264"/>
            <a:ext cx="4846320" cy="182880"/>
          </a:xfrm>
          <a:prstGeom prst="rect">
            <a:avLst/>
          </a:prstGeom>
          <a:solidFill>
            <a:srgbClr val="2A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77840" y="3255264"/>
            <a:ext cx="4846320" cy="18288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0" y="319125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FB8CB"/>
                </a:solidFill>
                <a:latin typeface="Consolas"/>
              </a:rPr>
              <a:t>৬–৮ সপ্তাহ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5890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CEEF5"/>
                </a:solidFill>
                <a:latin typeface="Nirmala UI"/>
              </a:rPr>
              <a:t>৫.  Guardian ও Alumni প্যানেল (নতুন)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3653028"/>
            <a:ext cx="4846320" cy="182880"/>
          </a:xfrm>
          <a:prstGeom prst="rect">
            <a:avLst/>
          </a:prstGeom>
          <a:solidFill>
            <a:srgbClr val="2A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77840" y="3653028"/>
            <a:ext cx="2165377" cy="18288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0" y="35890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FB8CB"/>
                </a:solidFill>
                <a:latin typeface="Consolas"/>
              </a:rPr>
              <a:t>৩–৪ সপ্তাহ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98678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CEEF5"/>
                </a:solidFill>
                <a:latin typeface="Nirmala UI"/>
              </a:rPr>
              <a:t>৬.  সিকিউরিটি হার্ডেনিং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4050792"/>
            <a:ext cx="4846320" cy="182880"/>
          </a:xfrm>
          <a:prstGeom prst="rect">
            <a:avLst/>
          </a:prstGeom>
          <a:solidFill>
            <a:srgbClr val="2A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77840" y="4050792"/>
            <a:ext cx="928018" cy="18288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0" y="398678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FB8CB"/>
                </a:solidFill>
                <a:latin typeface="Consolas"/>
              </a:rPr>
              <a:t>২ সপ্তাহ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3845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CEEF5"/>
                </a:solidFill>
                <a:latin typeface="Nirmala UI"/>
              </a:rPr>
              <a:t>৭.  QA, টেস্টিং ও UAT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4448556"/>
            <a:ext cx="4846320" cy="182880"/>
          </a:xfrm>
          <a:prstGeom prst="rect">
            <a:avLst/>
          </a:prstGeom>
          <a:solidFill>
            <a:srgbClr val="2A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77840" y="4448556"/>
            <a:ext cx="928018" cy="18288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0" y="43845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FB8CB"/>
                </a:solidFill>
                <a:latin typeface="Consolas"/>
              </a:rPr>
              <a:t>২ সপ্তাহ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7823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CEEF5"/>
                </a:solidFill>
                <a:latin typeface="Nirmala UI"/>
              </a:rPr>
              <a:t>৮.  Dockerization (নতুন) + Dokploy ডিপ্লয়মেন্ট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4846320"/>
            <a:ext cx="4846320" cy="182880"/>
          </a:xfrm>
          <a:prstGeom prst="rect">
            <a:avLst/>
          </a:prstGeom>
          <a:solidFill>
            <a:srgbClr val="2A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577840" y="4846320"/>
            <a:ext cx="515565" cy="18288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0" y="47823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FB8CB"/>
                </a:solidFill>
                <a:latin typeface="Consolas"/>
              </a:rPr>
              <a:t>১ সপ্তাহ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18007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CEEF5"/>
                </a:solidFill>
                <a:latin typeface="Nirmala UI"/>
              </a:rPr>
              <a:t>৯.  লঞ্চ, ট্রেনিং ও হ্যান্ডওভার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5244084"/>
            <a:ext cx="4846320" cy="182880"/>
          </a:xfrm>
          <a:prstGeom prst="rect">
            <a:avLst/>
          </a:prstGeom>
          <a:solidFill>
            <a:srgbClr val="2A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77840" y="5244084"/>
            <a:ext cx="515565" cy="18288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0" y="51800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FB8CB"/>
                </a:solidFill>
                <a:latin typeface="Consolas"/>
              </a:rPr>
              <a:t>১ সপ্তাহ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6509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E3A857"/>
                </a:solidFill>
                <a:latin typeface="Arial Narrow"/>
              </a:rPr>
              <a:t>মোট আনুমানিক সময়: ৬–৮ মাস  (সব মডিউল সম্পূর্ণ নতুন করে, পোস্ট-লঞ্চ সাপোর্ট চলমান থাকবে)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প্রজেক্টের বিস্তারিত বিবরণ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খরচের লেজার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DCEEF5"/>
                </a:solidFill>
                <a:latin typeface="Arial Narrow"/>
              </a:rPr>
              <a:t>প্রতি মডিউলে সময় ও খরচ (১/২)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7135" y="320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FB8CB"/>
                </a:solidFill>
                <a:latin typeface="Consolas"/>
              </a:rPr>
              <a:t>LEDGER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5212080"/>
                <a:gridCol w="2103120"/>
                <a:gridCol w="292608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3A857"/>
                          </a:solidFill>
                          <a:latin typeface="Arial Narrow"/>
                        </a:rPr>
                        <a:t>শিট</a:t>
                      </a:r>
                    </a:p>
                  </a:txBody>
                  <a:tcPr anchor="ctr">
                    <a:solidFill>
                      <a:srgbClr val="3A2D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3A857"/>
                          </a:solidFill>
                          <a:latin typeface="Arial Narrow"/>
                        </a:rPr>
                        <a:t>মডিউল</a:t>
                      </a:r>
                    </a:p>
                  </a:txBody>
                  <a:tcPr anchor="ctr">
                    <a:solidFill>
                      <a:srgbClr val="3A2D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3A857"/>
                          </a:solidFill>
                          <a:latin typeface="Arial Narrow"/>
                        </a:rPr>
                        <a:t>সময়</a:t>
                      </a:r>
                    </a:p>
                  </a:txBody>
                  <a:tcPr anchor="ctr">
                    <a:solidFill>
                      <a:srgbClr val="3A2D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3A857"/>
                          </a:solidFill>
                          <a:latin typeface="Arial Narrow"/>
                        </a:rPr>
                        <a:t>খরচ (৳)</a:t>
                      </a:r>
                    </a:p>
                  </a:txBody>
                  <a:tcPr anchor="ctr">
                    <a:solidFill>
                      <a:srgbClr val="3A2D1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০১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UI/UX ডিজাইন সিস্টেম ও পাবলিক ওয়েবসাইট (সম্পূর্ণ নতুন)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১০–১৪ দিন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৪০,০০০–৫৫,০০০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০২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ডেটাবেস ডিজাইন ও নরমালাইজেশন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৭–১০ দিন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৩০,০০০–৪৫,০০০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০৩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ব্যাকএন্ড API ও অথেনটিকেশন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২৫–৩৫ দিন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৮০,০০০–১,২০,০০০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০৪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অ্যাডমিন প্যানেল — সম্পূর্ণ নতুন (UI + Backend, ১২ সাব-মডিউল)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২০–২৮ দিন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৭০,০০০–৯৫,০০০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০৫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স্টুডেন্ট প্যানেল — সম্পূর্ণ নতুন (UI + Backend)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৯–১২ দিন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৩০,০০০–৪০,০০০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০৬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টিচার প্যানেল — সম্পূর্ণ নতুন (UI + Backend)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১০–১৪ দিন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৩২,০০০–৪৪,০০০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B8CB"/>
                </a:solidFill>
                <a:latin typeface="Nirmala UI"/>
              </a:rPr>
              <a:t>আগের কোনো ডেমো/প্রোটোটাইপ কোড পুনরায় ব্যবহার হচ্ছে না — প্রতিটি সারি সম্পূর্ণ নতুন করে তৈরির সময়-খরচ।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প্রজেক্টের বিস্তারিত বিবরণ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খরচের লেজার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DCEEF5"/>
                </a:solidFill>
                <a:latin typeface="Arial Narrow"/>
              </a:rPr>
              <a:t>প্রতি মডিউলে সময় ও খরচ (২/২)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7135" y="320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FB8CB"/>
                </a:solidFill>
                <a:latin typeface="Consolas"/>
              </a:rPr>
              <a:t>LEDGER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5212080"/>
                <a:gridCol w="2103120"/>
                <a:gridCol w="2926080"/>
              </a:tblGrid>
              <a:tr h="62865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3A857"/>
                          </a:solidFill>
                          <a:latin typeface="Arial Narrow"/>
                        </a:rPr>
                        <a:t>শিট</a:t>
                      </a:r>
                    </a:p>
                  </a:txBody>
                  <a:tcPr anchor="ctr">
                    <a:solidFill>
                      <a:srgbClr val="3A2D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3A857"/>
                          </a:solidFill>
                          <a:latin typeface="Arial Narrow"/>
                        </a:rPr>
                        <a:t>মডিউল</a:t>
                      </a:r>
                    </a:p>
                  </a:txBody>
                  <a:tcPr anchor="ctr">
                    <a:solidFill>
                      <a:srgbClr val="3A2D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3A857"/>
                          </a:solidFill>
                          <a:latin typeface="Arial Narrow"/>
                        </a:rPr>
                        <a:t>সময়</a:t>
                      </a:r>
                    </a:p>
                  </a:txBody>
                  <a:tcPr anchor="ctr">
                    <a:solidFill>
                      <a:srgbClr val="3A2D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3A857"/>
                          </a:solidFill>
                          <a:latin typeface="Arial Narrow"/>
                        </a:rPr>
                        <a:t>খরচ (৳)</a:t>
                      </a:r>
                    </a:p>
                  </a:txBody>
                  <a:tcPr anchor="ctr">
                    <a:solidFill>
                      <a:srgbClr val="3A2D16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০৭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গার্ডিয়ান প্যানেল (সম্পূর্ণ নতুন)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১০–১৪ দিন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৩৫,০০০–৫০,০০০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০৮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অ্যালামনাই প্যানেল (সম্পূর্ণ নতুন)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৭–১০ দিন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২৫,০০০–৩৫,০০০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০৯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সিকিউরিটি হার্ডেনিং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৭–১০ দিন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৩০,০০০–৪০,০০০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১০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Dockerization  (ক্লায়েন্টের সার্ভারের জন্য নতুন করে)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২–৩ দিন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১০,০০০–১৫,০০০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১১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Dokploy Deployment (VPS, SSL)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২–৩ দিন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১২,০০০–১৮,০০০</a:t>
                      </a:r>
                    </a:p>
                  </a:txBody>
                  <a:tcPr anchor="ctr">
                    <a:solidFill>
                      <a:srgbClr val="0E2E40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১২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টেস্টিং, QA ও বাগ ফিক্সিং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৭–১০ দিন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DCEEF5"/>
                          </a:solidFill>
                          <a:latin typeface="Nirmala UI"/>
                        </a:rPr>
                        <a:t>২০,০০০–৩০,০০০</a:t>
                      </a:r>
                    </a:p>
                  </a:txBody>
                  <a:tcPr anchor="ctr">
                    <a:solidFill>
                      <a:srgbClr val="123850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3A857"/>
                          </a:solidFill>
                          <a:latin typeface="Nirmala UI"/>
                        </a:rPr>
                        <a:t>সর্বমোট</a:t>
                      </a:r>
                    </a:p>
                  </a:txBody>
                  <a:tcPr anchor="ctr">
                    <a:solidFill>
                      <a:srgbClr val="3A2D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3A857"/>
                          </a:solidFill>
                          <a:latin typeface="Nirmala UI"/>
                        </a:rPr>
                        <a:t>সম্পূর্ণ কাজ (০১–১২, সব নতুন করে)</a:t>
                      </a:r>
                    </a:p>
                  </a:txBody>
                  <a:tcPr anchor="ctr">
                    <a:solidFill>
                      <a:srgbClr val="3A2D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3A857"/>
                          </a:solidFill>
                          <a:latin typeface="Nirmala UI"/>
                        </a:rPr>
                        <a:t>১১৬–১৬৩ দিন</a:t>
                      </a:r>
                    </a:p>
                  </a:txBody>
                  <a:tcPr anchor="ctr">
                    <a:solidFill>
                      <a:srgbClr val="3A2D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3A857"/>
                          </a:solidFill>
                          <a:latin typeface="Nirmala UI"/>
                        </a:rPr>
                        <a:t>৪,১৪,০০০–৫,৮৭,০০০</a:t>
                      </a:r>
                    </a:p>
                  </a:txBody>
                  <a:tcPr anchor="ctr">
                    <a:solidFill>
                      <a:srgbClr val="3A2D1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প্রজেক্টের বিস্তারিত বিবরণ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পেমেন্ট প্রস্তাব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ধাপে ধাপে ডেলিভারি ও বিল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FB8CB"/>
                </a:solidFill>
                <a:latin typeface="Nirmala UI"/>
              </a:rPr>
              <a:t>কাজ ভেঙে ভেঙে দেখানোর অনুরোধ ন্যায্য — তাই বিলও তিন ধাপে ভাগ করা হলো, যাতে প্রতিটি ধাপে কী ডেলিভার হলো তা স্পষ্ট থাকে। কোনো অগ্রিম বিনিয়োগ এখনো হয়নি — পুরো কাজ এই নতুন সময়-ভিত্তিক হিসাব থেকেই শুরু হবে।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2800" b="1" i="0">
                <a:solidFill>
                  <a:srgbClr val="E3A857"/>
                </a:solidFill>
                <a:latin typeface="Consolas"/>
              </a:rPr>
              <a:t>৩০%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DCEEF5"/>
                </a:solidFill>
                <a:latin typeface="Nirmala UI"/>
              </a:rPr>
              <a:t>চুক্তি স্বাক্ষরের সময়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00" b="0" i="0">
                <a:solidFill>
                  <a:srgbClr val="8FB8CB"/>
                </a:solidFill>
                <a:latin typeface="Nirmala UI"/>
              </a:rPr>
              <a:t>ডেটাবেস ডিজাইন ও ব্যাকএন্ড শুরুর অগ্রিম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51460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2800" b="1" i="0">
                <a:solidFill>
                  <a:srgbClr val="E3A857"/>
                </a:solidFill>
                <a:latin typeface="Consolas"/>
              </a:rPr>
              <a:t>৪০%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DCEEF5"/>
                </a:solidFill>
                <a:latin typeface="Nirmala UI"/>
              </a:rPr>
              <a:t>মিডওয়ে ডেলিভারি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00" b="0" i="0">
                <a:solidFill>
                  <a:srgbClr val="8FB8CB"/>
                </a:solidFill>
                <a:latin typeface="Nirmala UI"/>
              </a:rPr>
              <a:t>ব্যাকএন্ড + সব প্যানেল সংযোগ সম্পন্ন হলে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51460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2800" b="1" i="0">
                <a:solidFill>
                  <a:srgbClr val="E3A857"/>
                </a:solidFill>
                <a:latin typeface="Consolas"/>
              </a:rPr>
              <a:t>৩০%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DCEEF5"/>
                </a:solidFill>
                <a:latin typeface="Nirmala UI"/>
              </a:rPr>
              <a:t>ফাইনাল ডেলিভারি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200" b="0" i="0">
                <a:solidFill>
                  <a:srgbClr val="8FB8CB"/>
                </a:solidFill>
                <a:latin typeface="Nirmala UI"/>
              </a:rPr>
              <a:t>সিকিউরিটি, Docker, VPS ডিপ্লয়মেন্ট ও টেস্টিং সম্পন্ন হলে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3A857"/>
                </a:solidFill>
                <a:latin typeface="Arial Narrow"/>
              </a:rPr>
              <a:t>সর্বমোট প্রজেক্ট খরচ: আনুমানিক ৪,১৪,০০০–৫,৮৭,০০০ ৳  (১১৬–১৬৩ কর্মদিবস)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প্রজেক্টের বিস্তারিত বিবরণ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048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2A5068"/>
                </a:solidFill>
                <a:latin typeface="Consolas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3317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3A857"/>
                </a:solidFill>
                <a:latin typeface="Arial Narrow"/>
              </a:rPr>
              <a:t>পর্ব 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697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DCEEF5"/>
                </a:solidFill>
                <a:latin typeface="Arial Narrow"/>
              </a:rPr>
              <a:t>সিদ্ধান্ত ও পরবর্তী পদক্ষেপ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3474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FB8CB"/>
                </a:solidFill>
                <a:latin typeface="Nirmala UI"/>
              </a:rPr>
              <a:t>কেন এই প্রস্তাবনা, এবং এরপর কী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EMIS — Sherpur Polytechnic 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857"/>
                </a:solidFill>
                <a:latin typeface="Arial Narrow"/>
              </a:rPr>
              <a:t>প্রতিযোগিতামূলক সুবিধা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CEEF5"/>
                </a:solidFill>
                <a:latin typeface="Arial Narrow"/>
              </a:rPr>
              <a:t>কেন এই প্রস্তাবনাই বেছে নেবেন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27940"/>
          </a:xfrm>
          <a:prstGeom prst="rect">
            <a:avLst/>
          </a:prstGeom>
          <a:solidFill>
            <a:srgbClr val="E3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53968" cy="173736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১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কথায় না, কাজে প্রমাণ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Admin/Student/Teacher-এর ডেমো UI এবং নিজের সার্ভারে Docker সেটআপ — দুটোই শুধু স্কিলের প্রমাণ। ক্লায়েন্টের জন্য প্রতিটি সম্পূর্ণ নতুন ও বিলযোগ্য কাজ হিসেবেই তৈরি হবে, আগের কোডের কিছুই পুনরায় ব্যবহার হবে না।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3776" y="1600200"/>
            <a:ext cx="3553968" cy="173736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২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Dokploy-রেডি অভিজ্ঞতা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Dockerfile/Compose লেখার অভিজ্ঞতা আগে থেকেই আছে, তাই ক্লায়েন্টের VPS-এ নতুন করে সেটআপ করাও দ্রুত ও ঝুঁকিমুক্ত হবে।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58912" y="1600200"/>
            <a:ext cx="3553968" cy="173736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৩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DRY আর্কিটেকচার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Reusable কম্পোনেন্ট মানে ভবিষ্যতে নতুন ফিচার যুক্ত করা সহজ ও কম খরচের।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38728"/>
            <a:ext cx="3553968" cy="173736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৪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লিখিত স্বচ্ছ হিসাব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প্রতিটি মডিউলের সময়-খরচ আলাদা শিটে স্পষ্ট লেখা, কোনো লুকানো খরচ নেই।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3776" y="3538728"/>
            <a:ext cx="3553968" cy="1737360"/>
          </a:xfrm>
          <a:prstGeom prst="roundRect">
            <a:avLst>
              <a:gd name="adj" fmla="val 5000"/>
            </a:avLst>
          </a:prstGeom>
          <a:solidFill>
            <a:srgbClr val="123850"/>
          </a:solidFill>
          <a:ln w="12700">
            <a:solidFill>
              <a:srgbClr val="2A5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3A857"/>
                </a:solidFill>
                <a:latin typeface="Consolas"/>
              </a:rPr>
              <a:t>৫  </a:t>
            </a:r>
            <a:r>
              <a:rPr sz="1400" b="1" i="0">
                <a:solidFill>
                  <a:srgbClr val="DCEEF5"/>
                </a:solidFill>
                <a:latin typeface="Nirmala UI"/>
              </a:rPr>
              <a:t>দীর্ঘমেয়াদী সম্পর্ক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8FB8CB"/>
                </a:solidFill>
                <a:latin typeface="Nirmala UI"/>
              </a:rPr>
              <a:t>এটা “বানিয়ে চলে যাওয়া” কাজ নয় — লঞ্চের পরেও সাপোর্ট থাকবে।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সিদ্ধান্ত ও পরবর্তী পদক্ষেপ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23850"/>
          </a:solidFill>
          <a:ln w="19050">
            <a:solidFill>
              <a:srgbClr val="DC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DCEEF5"/>
                </a:solidFill>
                <a:latin typeface="Arial Narrow"/>
              </a:rPr>
              <a:t>SPI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DCEEF5"/>
                </a:solidFill>
                <a:latin typeface="Arial Narrow"/>
              </a:rPr>
              <a:t>ধন্যবাদ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8FB8CB"/>
                </a:solidFill>
                <a:latin typeface="Nirmala UI"/>
              </a:rPr>
              <a:t>আপনার সময় ও আস্থার জন্য কৃতজ্ঞ।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931920"/>
            <a:ext cx="2743200" cy="19050"/>
          </a:xfrm>
          <a:prstGeom prst="rect">
            <a:avLst/>
          </a:prstGeom>
          <a:solidFill>
            <a:srgbClr val="2A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DCEEF5"/>
                </a:solidFill>
                <a:latin typeface="Arial Narrow"/>
              </a:rPr>
              <a:t>Abdul Wahed Nur  (Wahed Nur)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FB8CB"/>
                </a:solidFill>
                <a:latin typeface="Consolas"/>
              </a:rPr>
              <a:t>ইমেইল:  wahednur@gmail.com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FB8CB"/>
                </a:solidFill>
                <a:latin typeface="Consolas"/>
              </a:rPr>
              <a:t>ওয়েবসাইট:  www.wahednur.tech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EMIS — Sherpur Polytechnic 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FB8CB"/>
                </a:solidFill>
                <a:latin typeface="Consolas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